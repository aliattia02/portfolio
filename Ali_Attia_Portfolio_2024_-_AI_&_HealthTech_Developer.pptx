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US">
              <a:latin typeface="Cambria" panose="02040503050406030204" charset="0"/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696C064A-D61B-4B21-B757-51A9B82445B8}" type="datetimeFigureOut">
              <a:rPr lang="en-US" smtClean="0">
                <a:latin typeface="Cambria" panose="02040503050406030204" charset="0"/>
                <a:ea typeface="Candara" panose="020E0502030303020204" charset="0"/>
                <a:cs typeface="Candara" panose="020E0502030303020204" charset="0"/>
              </a:rPr>
            </a:fld>
            <a:endParaRPr lang="en-US">
              <a:latin typeface="Cambria" panose="02040503050406030204" charset="0"/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>
              <a:latin typeface="Cambria" panose="02040503050406030204" charset="0"/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50305E07-67EA-4042-A3F6-853A8AD8D209}" type="slidenum">
              <a:rPr lang="en-US" smtClean="0">
                <a:latin typeface="Cambria" panose="02040503050406030204" charset="0"/>
                <a:ea typeface="Candara" panose="020E0502030303020204" charset="0"/>
                <a:cs typeface="Candara" panose="020E0502030303020204" charset="0"/>
              </a:rPr>
            </a:fld>
            <a:endParaRPr lang="en-US">
              <a:latin typeface="Cambria" panose="02040503050406030204" charset="0"/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mbria" panose="02040503050406030204" charset="0"/>
                <a:ea typeface="Candara" panose="020E0502030303020204" charset="0"/>
                <a:cs typeface="Candara" panose="020E050203030302020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mbria" panose="02040503050406030204" charset="0"/>
                <a:ea typeface="Candara" panose="020E0502030303020204" charset="0"/>
                <a:cs typeface="Candara" panose="020E0502030303020204" charset="0"/>
              </a:defRPr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mbria" panose="02040503050406030204" charset="0"/>
                <a:ea typeface="Candara" panose="020E0502030303020204" charset="0"/>
                <a:cs typeface="Candara" panose="020E050203030302020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mbria" panose="02040503050406030204" charset="0"/>
                <a:ea typeface="Candara" panose="020E0502030303020204" charset="0"/>
                <a:cs typeface="Candara" panose="020E0502030303020204" charset="0"/>
              </a:defRPr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mbria" panose="02040503050406030204" charset="0"/>
        <a:ea typeface="Candara" panose="020E0502030303020204" charset="0"/>
        <a:cs typeface="Candara" panose="020E050203030302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mbria" panose="02040503050406030204" charset="0"/>
        <a:ea typeface="Candara" panose="020E0502030303020204" charset="0"/>
        <a:cs typeface="Candara" panose="020E050203030302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mbria" panose="02040503050406030204" charset="0"/>
        <a:ea typeface="Candara" panose="020E0502030303020204" charset="0"/>
        <a:cs typeface="Candara" panose="020E050203030302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mbria" panose="02040503050406030204" charset="0"/>
        <a:ea typeface="Candara" panose="020E0502030303020204" charset="0"/>
        <a:cs typeface="Candara" panose="020E050203030302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mbria" panose="02040503050406030204" charset="0"/>
        <a:ea typeface="Candara" panose="020E0502030303020204" charset="0"/>
        <a:cs typeface="Candara" panose="020E050203030302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729122"/>
            <a:ext cx="4129088" cy="1257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145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Ali Attia Portfolio 2024</a:t>
            </a:r>
            <a:endParaRPr lang="en-US" sz="414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14400" y="3072147"/>
            <a:ext cx="4129088" cy="5536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AI &amp; HealthTech Developer</a:t>
            </a:r>
            <a:endParaRPr lang="en-US" sz="160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257800" y="2057372"/>
            <a:ext cx="2971800" cy="10287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3"/>
          <p:cNvSpPr/>
          <p:nvPr/>
        </p:nvSpPr>
        <p:spPr>
          <a:xfrm>
            <a:off x="5257800" y="2057372"/>
            <a:ext cx="57150" cy="10287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7" name="Text 4"/>
          <p:cNvSpPr/>
          <p:nvPr/>
        </p:nvSpPr>
        <p:spPr>
          <a:xfrm>
            <a:off x="5486400" y="2228822"/>
            <a:ext cx="2571750" cy="685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Specializing in </a:t>
            </a:r>
            <a:r>
              <a:rPr lang="en-US" sz="985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Medical Platforms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985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FHIR-Native Care Coordination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Professional Summary: Bridging Healthcare and AI</a:t>
            </a:r>
            <a:endParaRPr lang="en-US" sz="243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0075" y="1028700"/>
            <a:ext cx="4672013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in </a:t>
            </a: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Medical Platforms</a:t>
            </a: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FHIR-Native Care Coordination</a:t>
            </a: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7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0075" y="1637314"/>
            <a:ext cx="4672013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 in building production-ready applications using </a:t>
            </a: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Python/Flask</a:t>
            </a: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Native</a:t>
            </a: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7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00075" y="2245928"/>
            <a:ext cx="4672013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track record of delivering high-impact solutions in </a:t>
            </a: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T1D management</a:t>
            </a: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coordination</a:t>
            </a: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EdTech</a:t>
            </a: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7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0075" y="2854542"/>
            <a:ext cx="4672013" cy="4800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focus on </a:t>
            </a: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(DSGVO/GDPR)</a:t>
            </a: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(JWT/Fernet)</a:t>
            </a: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interoperability (FHIR R4)</a:t>
            </a:r>
            <a:r>
              <a:rPr lang="en-US" sz="127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7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0" y="1028700"/>
            <a:ext cx="2828925" cy="2686050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486400" y="1028700"/>
            <a:ext cx="2828925" cy="2686050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Professional Profile or Mission Visual]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DiaTwin: Revolutionizing T1D Management</a:t>
            </a:r>
            <a:endParaRPr lang="en-US" sz="243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Text 1"/>
          <p:cNvSpPr/>
          <p:nvPr>
            <p:custDataLst>
              <p:tags r:id="rId2"/>
            </p:custDataLst>
          </p:nvPr>
        </p:nvSpPr>
        <p:spPr>
          <a:xfrm>
            <a:off x="771525" y="1271588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Glycaemic Prediction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771525" y="1607344"/>
            <a:ext cx="3414713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PK/PD models for Insulin on Board (IOB) and Meal on Board (MOB) with circadian baseline correction.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771525" y="2664619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Nutrition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771525" y="3000375"/>
            <a:ext cx="341471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2.5 Flash Vision pipeline converts food photos into structured nutrition data instantly.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771525" y="3864769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CGM Integration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71525" y="4200525"/>
            <a:ext cx="3414713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via Abbott FreeStyle Libre integration with automatic unit conversion and token caching.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noFill/>
        </p:spPr>
        <p:txBody>
          <a:bodyPr wrap="square" lIns="255143" tIns="255143" rIns="255143" bIns="255143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DiaTwin App Interface &amp; AI Food Scanning]</a:t>
            </a:r>
            <a:endParaRPr lang="en-US" sz="1050" dirty="0"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23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DiaTwin Technical Architecture: Scalable &amp; Secure</a:t>
            </a:r>
            <a:endParaRPr lang="en-US" sz="243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771650"/>
            <a:ext cx="2476509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Monorepo Architecture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2214563"/>
            <a:ext cx="2476509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Python/Flask REST API, React 18 Web PWA, and Expo-based React Native mobile app in a unified monorepo.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974591"/>
            <a:ext cx="2476509" cy="1375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• React • React Native</a:t>
            </a:r>
            <a:endParaRPr lang="en-US" sz="78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333759" y="1771650"/>
            <a:ext cx="2476509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Optimization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333759" y="2214563"/>
            <a:ext cx="2476509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60-second in-process LRU cache for patient constants to absorb mobile cold-start bursts and reduce latency.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33759" y="2974591"/>
            <a:ext cx="2476509" cy="1375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Atlas • Redis • Vercel</a:t>
            </a:r>
            <a:endParaRPr lang="en-US" sz="78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96019" y="1771650"/>
            <a:ext cx="2476509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Encryption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096019" y="2214563"/>
            <a:ext cx="2476509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HS256 authentication and Fernet symmetric encryption for CGM credentials at rest and in transit.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96019" y="2974591"/>
            <a:ext cx="2476509" cy="1375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• Fernet • SecureStore</a:t>
            </a:r>
            <a:endParaRPr lang="en-US" sz="78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71500" y="3397858"/>
            <a:ext cx="8029575" cy="1814513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571500" y="3397858"/>
            <a:ext cx="8029575" cy="18145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DiaTwin Architecture Diagram / Backend Dashboard]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Morafek CareMate: FHIR-Native Care Coordination</a:t>
            </a:r>
            <a:endParaRPr lang="en-US" sz="243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71525" y="1271588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 R4 Interoperability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1525" y="1607344"/>
            <a:ext cx="3414713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implementation of 6 FHIR R4 resource types (Observation, Encounter, Condition, etc.) for seamless health data exchange.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1525" y="2664619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ISiK Stage 1 Compliance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1525" y="3000375"/>
            <a:ext cx="341471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compliant with GKV IDs, LANR numbers, ICD-10-GM 2026 codes, and LOINC-coded vital signs.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1525" y="3864769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DSGVO &amp; Security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1525" y="4200525"/>
            <a:ext cx="3414713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Right-to-erasure compliant with explicit patient consent models and JWT tokens stored in secure mobile keystores.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noFill/>
        </p:spPr>
        <p:txBody>
          <a:bodyPr wrap="square" lIns="255143" tIns="255143" rIns="255143" bIns="255143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Morafek CareMate Patient Dashboard &amp; FHIR Data View]</a:t>
            </a:r>
            <a:endParaRPr lang="en-US" sz="1050" dirty="0"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Morafek CareMate: Clinical Features &amp; Dashboard</a:t>
            </a:r>
            <a:endParaRPr lang="en-US" sz="243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71525" y="1171575"/>
            <a:ext cx="391477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Logic &amp; Monitoring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1525" y="1435894"/>
            <a:ext cx="3914775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severity thresholds for vitals (HR/Glucose/SpO2/BP) and real-time BP classification (Normal to Crisis).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1525" y="2078831"/>
            <a:ext cx="391477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Doctor Dashboard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1525" y="2343150"/>
            <a:ext cx="3914775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Role-based access with per-patient views for vitals, visits, documents, and exercises. Inline profile editor.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2871788"/>
            <a:ext cx="4114800" cy="1685925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71500" y="2871788"/>
            <a:ext cx="4114800" cy="1685925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Morafek CareMate Mobile App &amp; Clinical Vitals Queue]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000625" y="1171575"/>
            <a:ext cx="391477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&amp; Document Management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00625" y="1435894"/>
            <a:ext cx="3914775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upload via Cloudinary with LOINC-coded categories and color-coded banners for easy identification.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000625" y="2078831"/>
            <a:ext cx="391477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Tech Stack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00625" y="2343150"/>
            <a:ext cx="3914775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Flask, MongoDB Atlas, Cloudinary, Google Gemini, React Native, Expo Router, TypeScript, Zustand, and Render.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800600" y="2871788"/>
            <a:ext cx="4114800" cy="1685925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800600" y="2871788"/>
            <a:ext cx="4114800" cy="1685925"/>
          </a:xfrm>
          <a:prstGeom prst="rect">
            <a:avLst/>
          </a:prstGeom>
          <a:noFill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Doctor Dashboard Interface &amp; Patient Views]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DailyDeals: Smart Shopping Companion for Egypt</a:t>
            </a:r>
            <a:endParaRPr lang="en-US" sz="243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Text 1"/>
          <p:cNvSpPr/>
          <p:nvPr>
            <p:custDataLst>
              <p:tags r:id="rId2"/>
            </p:custDataLst>
          </p:nvPr>
        </p:nvSpPr>
        <p:spPr>
          <a:xfrm>
            <a:off x="771525" y="1271588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Market-Specific Localization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771525" y="1607344"/>
            <a:ext cx="3414713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(Arabic/English) mobile app with full RTL support and culturally appropriate formatting for the Egyptian market.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771525" y="2664619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Three-Tier Caching Strategy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771525" y="3000375"/>
            <a:ext cx="3414713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Firestore remote, local AsyncStorage, and in-memory state ensuring instant catalogue loads and offline resilience.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771525" y="4057650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Production Deployment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771525" y="4393406"/>
            <a:ext cx="3414713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launched on Google Play Store, serving 5 governorates with dynamic location-based store filtering.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noFill/>
        </p:spPr>
        <p:txBody>
          <a:bodyPr wrap="square" lIns="255143" tIns="255143" rIns="255143" bIns="255143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DailyDeals Play Store Screenshots &amp; Bilingual Interface]</a:t>
            </a:r>
            <a:endParaRPr lang="en-US" sz="1050" dirty="0"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DailyDeals: Shopping Tools &amp; Monitoring</a:t>
            </a:r>
            <a:endParaRPr lang="en-US" sz="243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0075" y="1128713"/>
            <a:ext cx="38719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Branch Maps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0075" y="1378744"/>
            <a:ext cx="387191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Leaflet-based maps with direct-call and navigation integration for national retailers like Carrefour and local businesses.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00075" y="2021681"/>
            <a:ext cx="38719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Shopping Tools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0075" y="2271713"/>
            <a:ext cx="387191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basket with price calculation, favorites system, and real-time deal status tracking (Active/Upcoming/Expired).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28625" y="2800350"/>
            <a:ext cx="4000500" cy="1571625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28625" y="2800350"/>
            <a:ext cx="4000500" cy="157162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DailyDeals Store Directory &amp; Shopping Basket View]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43463" y="1128713"/>
            <a:ext cx="38719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43463" y="1378744"/>
            <a:ext cx="387191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Sentry integration for error monitoring and crash reporting. Redux global state with smart ad-frequency control.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43463" y="2021681"/>
            <a:ext cx="38719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Tech Stack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43463" y="2271713"/>
            <a:ext cx="3871913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Native, Expo, Redux, Firebase Firestore, i18next, Leaflet, AsyncStorage, and Sentry.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72013" y="2800350"/>
            <a:ext cx="4000500" cy="1571625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672013" y="2800350"/>
            <a:ext cx="4000500" cy="1571625"/>
          </a:xfrm>
          <a:prstGeom prst="rect">
            <a:avLst/>
          </a:prstGeom>
          <a:noFill/>
        </p:spPr>
        <p:txBody>
          <a:bodyPr wrap="square" lIns="68072" tIns="68072" rIns="68072" bIns="68072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DailyDeals App Interface &amp; Error Monitoring Dashboard]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DeutschMind: Zero-Dependency Language Learning</a:t>
            </a:r>
            <a:endParaRPr lang="en-US" sz="243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71525" y="1271588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Zero-Dependency Architecture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1525" y="1607344"/>
            <a:ext cx="3414713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npm, no bundlers, no CDN imports. A fully static, browser-based platform built with vanilla JS, CSS3, and HTML5 for maximum portability.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1525" y="2664619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JS Engines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1525" y="3000375"/>
            <a:ext cx="3414713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engines for vocabulary and grammar. Integrated TTS via Web Speech API with sequential audio playback and keyboard shortcuts.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1525" y="4057650"/>
            <a:ext cx="3414713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Content Scale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71525" y="4393406"/>
            <a:ext cx="3414713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3,000+ vocabulary entries, 60+ grammar topics, and 200+ exercises across CEFR levels A1 to C2, all filterable in real-time.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4543425" y="1100138"/>
            <a:ext cx="4029075" cy="3671888"/>
          </a:xfrm>
          <a:prstGeom prst="rect">
            <a:avLst/>
          </a:prstGeom>
          <a:noFill/>
        </p:spPr>
        <p:txBody>
          <a:bodyPr wrap="square" lIns="255143" tIns="255143" rIns="255143" bIns="255143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DeutschMind Web Interface &amp; Vocabulary Gender Color-Coding]</a:t>
            </a:r>
            <a:endParaRPr lang="en-US" sz="1050" dirty="0"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221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DeutschMind Methodology: Visual &amp; Auditory Learning</a:t>
            </a:r>
            <a:endParaRPr lang="en-US" sz="243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71525" y="1728788"/>
            <a:ext cx="397192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 System Reinforcement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1525" y="2064544"/>
            <a:ext cx="3971925" cy="5786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DerDieDas color-coding (Blue/Red/Green) applied across all vocabulary to reinforce grammatical gender acquisition.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1525" y="3121819"/>
            <a:ext cx="397192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Voice Controls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1525" y="3457575"/>
            <a:ext cx="3971925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Customizable speed, pitch, and voice selection using the native Web Speech API with zero server calls for privacy and speed.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4293394"/>
            <a:ext cx="4171950" cy="1528763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71500" y="4293394"/>
            <a:ext cx="4171950" cy="1528763"/>
          </a:xfrm>
          <a:prstGeom prst="rect">
            <a:avLst/>
          </a:prstGeom>
          <a:noFill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DeutschMind Grammar Lessons &amp; FSP Module]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200650" y="1728788"/>
            <a:ext cx="397192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FSP Specialized Module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200650" y="2064544"/>
            <a:ext cx="3971925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Preparation for Fachsprachenpruefung covering 10 legal and professional topics for pharmacy and healthcare professionals.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200650" y="2928938"/>
            <a:ext cx="397192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Content Scale</a:t>
            </a:r>
            <a:endParaRPr lang="en-US" sz="11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00650" y="3264694"/>
            <a:ext cx="3971925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3,000+ vocabulary entries, 60+ grammar topics, and 200+ exercises filterable by CEFR level (A1-C2) in real-time.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00625" y="4100513"/>
            <a:ext cx="4171950" cy="1528763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5000625" y="4100513"/>
            <a:ext cx="4171950" cy="1528763"/>
          </a:xfrm>
          <a:prstGeom prst="rect">
            <a:avLst/>
          </a:prstGeom>
          <a:noFill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 Placeholder: DeutschMind Web Interface &amp; Vocabulary Gender Color-Coding]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7179" y="410766"/>
            <a:ext cx="5709642" cy="5322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6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Let's Build the Future Together</a:t>
            </a:r>
            <a:endParaRPr lang="en-US" sz="286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286893" y="1014413"/>
            <a:ext cx="4570214" cy="242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 Attia | Full-Stack AI &amp; HealthTech Developer</a:t>
            </a:r>
            <a:endParaRPr lang="en-US" sz="1395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143125" y="1614488"/>
            <a:ext cx="2171700" cy="2171700"/>
          </a:xfrm>
          <a:prstGeom prst="rect">
            <a:avLst/>
          </a:prstGeom>
          <a:solidFill>
            <a:srgbClr val="E5E7EB"/>
          </a:solidFill>
          <a:ln w="18288">
            <a:solidFill>
              <a:srgbClr val="9CA3AF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2143125" y="1614488"/>
            <a:ext cx="2171700" cy="217170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[Professional Profile Photo / QR Code]</a:t>
            </a:r>
            <a:endParaRPr lang="en-US" sz="940" dirty="0">
              <a:ea typeface="Candara" panose="020E0502030303020204" charset="0"/>
              <a:cs typeface="Candara" panose="020E050203030302020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163" y="2123480"/>
            <a:ext cx="21431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50631" y="2107406"/>
            <a:ext cx="1018540" cy="1917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de-DE" altLang="en-US" sz="1160" dirty="0">
                <a:solidFill>
                  <a:srgbClr val="4B5563"/>
                </a:solidFill>
                <a:latin typeface="Calibri" panose="020F0502020204030204" charset="0"/>
                <a:ea typeface="Inter" pitchFamily="34" charset="-122"/>
                <a:cs typeface="Inter" pitchFamily="34" charset="-120"/>
              </a:rPr>
              <a:t>ali.attia@gmx.de</a:t>
            </a:r>
            <a:endParaRPr lang="de-DE" altLang="en-US" sz="1160" dirty="0">
              <a:solidFill>
                <a:srgbClr val="4B5563"/>
              </a:solidFill>
              <a:latin typeface="Calibri" panose="020F0502020204030204" charset="0"/>
              <a:ea typeface="Inter" pitchFamily="34" charset="-122"/>
              <a:cs typeface="Inter" pitchFamily="34" charset="-12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163" y="2455664"/>
            <a:ext cx="214313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50631" y="2439591"/>
            <a:ext cx="1566267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6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github.com/aliattia02</a:t>
            </a:r>
            <a:endParaRPr lang="en-US" sz="1160" dirty="0">
              <a:ea typeface="Candara" panose="020E0502030303020204" charset="0"/>
              <a:cs typeface="Candara" panose="020E050203030302020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163" y="2787848"/>
            <a:ext cx="214313" cy="1571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50631" y="2771775"/>
            <a:ext cx="1657350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6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linkedin.com/in/aliattia</a:t>
            </a:r>
            <a:endParaRPr lang="en-US" sz="1160" dirty="0">
              <a:ea typeface="Candara" panose="020E0502030303020204" charset="0"/>
              <a:cs typeface="Candara" panose="020E050203030302020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163" y="3120033"/>
            <a:ext cx="214313" cy="1571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50631" y="3103959"/>
            <a:ext cx="1364456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6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aliattia02.github.io</a:t>
            </a:r>
            <a:endParaRPr lang="en-US" sz="1160" dirty="0">
              <a:ea typeface="Candara" panose="020E0502030303020204" charset="0"/>
              <a:cs typeface="Candara" panose="020E0502030303020204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357313" y="4200525"/>
            <a:ext cx="6429375" cy="517922"/>
          </a:xfrm>
          <a:prstGeom prst="rect">
            <a:avLst/>
          </a:prstGeom>
          <a:noFill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for innovative projects in </a:t>
            </a:r>
            <a:r>
              <a:rPr lang="en-US" sz="985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AI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85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FHIR Interoperability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985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Development</a:t>
            </a: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>
              <a:ea typeface="Candara" panose="020E0502030303020204" charset="0"/>
              <a:cs typeface="Candara" panose="020E050203030302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6.1874803149607,&quot;left&quot;:60.75,&quot;top&quot;:100.12503937007874,&quot;width&quot;:268.87503937007875}"/>
</p:tagLst>
</file>

<file path=ppt/tags/tag2.xml><?xml version="1.0" encoding="utf-8"?>
<p:tagLst xmlns:p="http://schemas.openxmlformats.org/presentationml/2006/main">
  <p:tag name="KSO_WM_DIAGRAM_VIRTUALLY_FRAME" val="{&quot;height&quot;:276.1874803149607,&quot;left&quot;:60.75,&quot;top&quot;:100.12503937007874,&quot;width&quot;:268.87503937007875}"/>
</p:tagLst>
</file>

<file path=ppt/tags/tag3.xml><?xml version="1.0" encoding="utf-8"?>
<p:tagLst xmlns:p="http://schemas.openxmlformats.org/presentationml/2006/main">
  <p:tag name="KSO_WM_DIAGRAM_VIRTUALLY_FRAME" val="{&quot;height&quot;:276.1874803149607,&quot;left&quot;:60.75,&quot;top&quot;:100.12503937007874,&quot;width&quot;:268.87503937007875}"/>
</p:tagLst>
</file>

<file path=ppt/tags/tag4.xml><?xml version="1.0" encoding="utf-8"?>
<p:tagLst xmlns:p="http://schemas.openxmlformats.org/presentationml/2006/main">
  <p:tag name="KSO_WM_DIAGRAM_VIRTUALLY_FRAME" val="{&quot;height&quot;:276.1874803149607,&quot;left&quot;:60.75,&quot;top&quot;:100.12503937007874,&quot;width&quot;:268.87503937007875}"/>
</p:tagLst>
</file>

<file path=ppt/tags/tag5.xml><?xml version="1.0" encoding="utf-8"?>
<p:tagLst xmlns:p="http://schemas.openxmlformats.org/presentationml/2006/main">
  <p:tag name="KSO_WM_DIAGRAM_VIRTUALLY_FRAME" val="{&quot;height&quot;:276.1874803149607,&quot;left&quot;:60.75,&quot;top&quot;:100.12503937007874,&quot;width&quot;:268.87503937007875}"/>
</p:tagLst>
</file>

<file path=ppt/tags/tag6.xml><?xml version="1.0" encoding="utf-8"?>
<p:tagLst xmlns:p="http://schemas.openxmlformats.org/presentationml/2006/main">
  <p:tag name="KSO_WM_DIAGRAM_VIRTUALLY_FRAME" val="{&quot;height&quot;:276.1874803149607,&quot;left&quot;:60.75,&quot;top&quot;:100.12503937007874,&quot;width&quot;:268.87503937007875}"/>
</p:tagLst>
</file>

<file path=ppt/tags/tag7.xml><?xml version="1.0" encoding="utf-8"?>
<p:tagLst xmlns:p="http://schemas.openxmlformats.org/presentationml/2006/main">
  <p:tag name="KSO_WM_DIAGRAM_VIRTUALLY_FRAME" val="{&quot;height&quot;:291.37496062992125,&quot;left&quot;:60.75,&quot;top&quot;:100.12503937007874,&quot;width&quot;:268.87503937007875}"/>
</p:tagLst>
</file>

<file path=ppt/tags/tag8.xml><?xml version="1.0" encoding="utf-8"?>
<p:tagLst xmlns:p="http://schemas.openxmlformats.org/presentationml/2006/main">
  <p:tag name="KSO_WM_DIAGRAM_VIRTUALLY_FRAME" val="{&quot;height&quot;:291.37496062992125,&quot;left&quot;:60.75,&quot;top&quot;:100.12503937007874,&quot;width&quot;:268.87503937007875}"/>
</p:tagLst>
</file>

<file path=ppt/tags/tag9.xml><?xml version="1.0" encoding="utf-8"?>
<p:tagLst xmlns:p="http://schemas.openxmlformats.org/presentationml/2006/main">
  <p:tag name="KSO_WM_DIAGRAM_VIRTUALLY_FRAME" val="{&quot;height&quot;:291.37496062992125,&quot;left&quot;:60.75,&quot;top&quot;:100.12503937007874,&quot;width&quot;:268.87503937007875}"/>
</p:tagLst>
</file>

<file path=ppt/tags/tag10.xml><?xml version="1.0" encoding="utf-8"?>
<p:tagLst xmlns:p="http://schemas.openxmlformats.org/presentationml/2006/main">
  <p:tag name="KSO_WM_DIAGRAM_VIRTUALLY_FRAME" val="{&quot;height&quot;:291.37496062992125,&quot;left&quot;:60.75,&quot;top&quot;:100.12503937007874,&quot;width&quot;:268.87503937007875}"/>
</p:tagLst>
</file>

<file path=ppt/tags/tag11.xml><?xml version="1.0" encoding="utf-8"?>
<p:tagLst xmlns:p="http://schemas.openxmlformats.org/presentationml/2006/main">
  <p:tag name="KSO_WM_DIAGRAM_VIRTUALLY_FRAME" val="{&quot;height&quot;:291.37496062992125,&quot;left&quot;:60.75,&quot;top&quot;:100.12503937007874,&quot;width&quot;:268.87503937007875}"/>
</p:tagLst>
</file>

<file path=ppt/tags/tag12.xml><?xml version="1.0" encoding="utf-8"?>
<p:tagLst xmlns:p="http://schemas.openxmlformats.org/presentationml/2006/main">
  <p:tag name="KSO_WM_DIAGRAM_VIRTUALLY_FRAME" val="{&quot;height&quot;:291.37496062992125,&quot;left&quot;:60.75,&quot;top&quot;:100.12503937007874,&quot;width&quot;:268.875039370078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ndara"/>
        <a:font script="Hebr" typeface="Candar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ndar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ndara"/>
        <a:font script="Hebr" typeface="Candar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ndar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ndara"/>
        <a:font script="Hebr" typeface="Candar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ndar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5826</Words>
  <Application>WPS Presentation</Application>
  <PresentationFormat>On-screen Show (16:9)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Playfair Display</vt:lpstr>
      <vt:lpstr>Segoe Print</vt:lpstr>
      <vt:lpstr>Playfair Display</vt:lpstr>
      <vt:lpstr>Playfair Display</vt:lpstr>
      <vt:lpstr>Inter</vt:lpstr>
      <vt:lpstr>Inter</vt:lpstr>
      <vt:lpstr>Inter</vt:lpstr>
      <vt:lpstr>Calibri</vt:lpstr>
      <vt:lpstr>Microsoft YaHei</vt:lpstr>
      <vt:lpstr>Arial Unicode MS</vt:lpstr>
      <vt:lpstr>MingLiU-ExtB</vt:lpstr>
      <vt:lpstr>Cambria</vt:lpstr>
      <vt:lpstr>Candara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Ali Attia</cp:lastModifiedBy>
  <cp:revision>2</cp:revision>
  <dcterms:created xsi:type="dcterms:W3CDTF">2026-04-14T00:09:00Z</dcterms:created>
  <dcterms:modified xsi:type="dcterms:W3CDTF">2026-04-14T03:07:38Z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4B084E956ED64C30841EF8CA4F091ADE_12</vt:lpwstr>
  </property>
  <property fmtid="{D5CDD505-2E9C-101B-9397-08002B2CF9AE}" pid="3" name="KSOProductBuildVer">
    <vt:lpwstr>2057-12.2.0.23196</vt:lpwstr>
  </property>
</Properties>
</file>