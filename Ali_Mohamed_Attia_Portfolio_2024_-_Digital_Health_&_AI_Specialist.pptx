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329072"/>
            <a:ext cx="3114675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145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Ali Mohamed Attia</a:t>
            </a:r>
            <a:endParaRPr lang="en-US" sz="4145" dirty="0"/>
          </a:p>
        </p:txBody>
      </p:sp>
      <p:sp>
        <p:nvSpPr>
          <p:cNvPr id="4" name="Text 1"/>
          <p:cNvSpPr/>
          <p:nvPr/>
        </p:nvSpPr>
        <p:spPr>
          <a:xfrm>
            <a:off x="914400" y="3357897"/>
            <a:ext cx="3114675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Health &amp; AI Specialist</a:t>
            </a:r>
            <a:endParaRPr lang="en-US" sz="1602" dirty="0"/>
          </a:p>
        </p:txBody>
      </p:sp>
      <p:sp>
        <p:nvSpPr>
          <p:cNvPr id="5" name="Shape 2"/>
          <p:cNvSpPr/>
          <p:nvPr/>
        </p:nvSpPr>
        <p:spPr>
          <a:xfrm>
            <a:off x="4386263" y="1874509"/>
            <a:ext cx="3843338" cy="13944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4386263" y="1874509"/>
            <a:ext cx="57150" cy="1394427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4"/>
          <p:cNvSpPr/>
          <p:nvPr/>
        </p:nvSpPr>
        <p:spPr>
          <a:xfrm>
            <a:off x="4729163" y="2160259"/>
            <a:ext cx="3214688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Bridging </a:t>
            </a:r>
            <a:r>
              <a:rPr lang="en-US" sz="1193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</a:t>
            </a:r>
            <a:r>
              <a:rPr lang="en-US" sz="126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193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r>
              <a:rPr lang="en-US" sz="126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r>
              <a:rPr lang="en-US" sz="1193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</a:t>
            </a:r>
            <a:r>
              <a:rPr lang="en-US" sz="126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transform healthcare </a:t>
            </a:r>
            <a:r>
              <a:rPr lang="en-US" sz="126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globally.</a:t>
            </a:r>
            <a:endParaRPr lang="en-US" sz="1269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Professional Background: From Public Health Strategy to AI Innovation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71525" y="1485900"/>
            <a:ext cx="4400550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Pharmacist &amp; Digital Health Professional</a:t>
            </a:r>
            <a:r>
              <a:rPr lang="en-US" sz="126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M.Sc. in </a:t>
            </a:r>
            <a:r>
              <a:rPr lang="en-US" sz="126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Health with a focus on Health Data Science </a:t>
            </a:r>
            <a:r>
              <a:rPr lang="en-US" sz="126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AI-Driven Precision Medicine.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771525" y="2348815"/>
            <a:ext cx="4400550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Leadership</a:t>
            </a:r>
            <a:r>
              <a:rPr lang="en-US" sz="126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Former Senior Digital </a:t>
            </a:r>
            <a:r>
              <a:rPr lang="en-US" sz="126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Transformation Officer at Egypt's Ministry of Health, </a:t>
            </a:r>
            <a:r>
              <a:rPr lang="en-US" sz="126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contributing to the Healthcare Authority and "Hayah </a:t>
            </a:r>
            <a:r>
              <a:rPr lang="en-US" sz="126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Karima" initiatives.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771525" y="3451743"/>
            <a:ext cx="4400550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Focus</a:t>
            </a:r>
            <a:r>
              <a:rPr lang="en-US" sz="126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Developing data-driven healthcare </a:t>
            </a:r>
            <a:r>
              <a:rPr lang="en-US" sz="126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 platforms integrating physiological </a:t>
            </a:r>
            <a:r>
              <a:rPr lang="en-US" sz="126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modeling, visualization, and machine learning.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71525" y="4314658"/>
            <a:ext cx="4400550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Mission</a:t>
            </a:r>
            <a:r>
              <a:rPr lang="en-US" sz="126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To transform global healthcare by enabling </a:t>
            </a:r>
            <a:r>
              <a:rPr lang="en-US" sz="126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personalized, AI-driven care through the integration </a:t>
            </a:r>
            <a:r>
              <a:rPr lang="en-US" sz="126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medicine and technology.</a:t>
            </a:r>
            <a:endParaRPr lang="en-US" sz="1193" dirty="0"/>
          </a:p>
        </p:txBody>
      </p:sp>
      <p:sp>
        <p:nvSpPr>
          <p:cNvPr id="8" name="Shape 5"/>
          <p:cNvSpPr/>
          <p:nvPr/>
        </p:nvSpPr>
        <p:spPr>
          <a:xfrm>
            <a:off x="5457825" y="1485900"/>
            <a:ext cx="3114675" cy="3257550"/>
          </a:xfrm>
          <a:prstGeom prst="rect">
            <a:avLst/>
          </a:prstGeom>
          <a:solidFill>
            <a:srgbClr val="E5E7EB"/>
          </a:solidFill>
          <a:ln w="18288">
            <a:solidFill>
              <a:srgbClr val="9CA3AF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5457825" y="1485900"/>
            <a:ext cx="3114675" cy="325755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 Placeholder: Professional Profile or Ministry of Health Experience Visual]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292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DiaTwin &amp; DiaNavigator: Revolutionary T1D Management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71525" y="1728788"/>
            <a:ext cx="34147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Dosing Support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771525" y="1993106"/>
            <a:ext cx="34147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platform for T1D management providing personalized insulin dosing recommendations via AI.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771525" y="2693194"/>
            <a:ext cx="34147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Physiological Modeling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71525" y="2957513"/>
            <a:ext cx="34147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Proprietary PK/PD models for IOB/MOB with complete macronutrient analysis including protein and fat impact.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771525" y="3657600"/>
            <a:ext cx="34147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Circadian Intelligence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771525" y="3921919"/>
            <a:ext cx="34147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24-hour insulin sensitivity variations with personalized adjustments based on circadian baseline correction.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707231" y="4593431"/>
            <a:ext cx="102334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0.2s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707231" y="4836319"/>
            <a:ext cx="102334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 TIME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2080617" y="4593431"/>
            <a:ext cx="65365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99.9%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2080617" y="4836319"/>
            <a:ext cx="65365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UPTIME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3084314" y="4593431"/>
            <a:ext cx="98226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99%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3084314" y="4836319"/>
            <a:ext cx="98226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PROCESSED</a:t>
            </a:r>
            <a:endParaRPr lang="en-US" sz="727" dirty="0"/>
          </a:p>
        </p:txBody>
      </p:sp>
      <p:sp>
        <p:nvSpPr>
          <p:cNvPr id="16" name="Shape 13"/>
          <p:cNvSpPr/>
          <p:nvPr/>
        </p:nvSpPr>
        <p:spPr>
          <a:xfrm>
            <a:off x="4543425" y="1557338"/>
            <a:ext cx="4029075" cy="3671888"/>
          </a:xfrm>
          <a:prstGeom prst="rect">
            <a:avLst/>
          </a:prstGeom>
          <a:solidFill>
            <a:srgbClr val="E5E7EB"/>
          </a:solidFill>
          <a:ln w="18288">
            <a:solidFill>
              <a:srgbClr val="9CA3AF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4543425" y="1557338"/>
            <a:ext cx="4029075" cy="3671888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 Placeholder: DiaTwin/DiaNavigator Interface &amp; 4-Axis Multi-Layer Visualization]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123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DiaTwin Technical Architecture: Scalable &amp; Secure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771650"/>
            <a:ext cx="247650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Monorepo Architecture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2214563"/>
            <a:ext cx="247650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Python/Flask REST API, React 18 Web PWA, and Expo-based React Native mobile app in a single repository.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2974591"/>
            <a:ext cx="247650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 • React • React Native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3333759" y="1771650"/>
            <a:ext cx="247650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Vision Workflow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3333759" y="2214563"/>
            <a:ext cx="247650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2.5 Flash Vision pipeline for instant food photo to nutrition data conversion with high confidence scores.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3333759" y="2974591"/>
            <a:ext cx="247650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Vision • Python • MongoDB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6096019" y="1771650"/>
            <a:ext cx="247650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&amp; Performance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6096019" y="2214563"/>
            <a:ext cx="247650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HS256 authentication, Fernet encryption for CGM credentials, and 60-second LRU caching for low latency.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6096019" y="2974591"/>
            <a:ext cx="247650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• Fernet • LRU Cache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571500" y="3397858"/>
            <a:ext cx="8029575" cy="1814513"/>
          </a:xfrm>
          <a:prstGeom prst="rect">
            <a:avLst/>
          </a:prstGeom>
          <a:solidFill>
            <a:srgbClr val="E5E7EB"/>
          </a:solidFill>
          <a:ln w="18288">
            <a:solidFill>
              <a:srgbClr val="9CA3AF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571500" y="3397858"/>
            <a:ext cx="802957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 Placeholder: Technical Architecture Diagram / AI Vision Workflow]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BeatCare: AI-Powered Heart Disease Prediction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71525" y="1271588"/>
            <a:ext cx="34147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Predictions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771525" y="1535906"/>
            <a:ext cx="34147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 accuracy achieved using Logistic Regression with comprehensive feature analysis across 50+ health markers.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771525" y="2464594"/>
            <a:ext cx="34147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Risk Assessment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71525" y="2728913"/>
            <a:ext cx="34147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risk evaluation based on patient health data input, providing personalized heart health recommendations.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735806" y="3700463"/>
            <a:ext cx="945347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</a:t>
            </a:r>
            <a:endParaRPr lang="en-US" sz="1808" dirty="0"/>
          </a:p>
        </p:txBody>
      </p:sp>
      <p:sp>
        <p:nvSpPr>
          <p:cNvPr id="9" name="Text 6"/>
          <p:cNvSpPr/>
          <p:nvPr/>
        </p:nvSpPr>
        <p:spPr>
          <a:xfrm>
            <a:off x="735806" y="4013002"/>
            <a:ext cx="94534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1988334" y="3700463"/>
            <a:ext cx="945347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1000+</a:t>
            </a:r>
            <a:endParaRPr lang="en-US" sz="1808" dirty="0"/>
          </a:p>
        </p:txBody>
      </p:sp>
      <p:sp>
        <p:nvSpPr>
          <p:cNvPr id="11" name="Text 8"/>
          <p:cNvSpPr/>
          <p:nvPr/>
        </p:nvSpPr>
        <p:spPr>
          <a:xfrm>
            <a:off x="1988334" y="4013002"/>
            <a:ext cx="94534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PATIENTS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3240863" y="3700463"/>
            <a:ext cx="945347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50+</a:t>
            </a:r>
            <a:endParaRPr lang="en-US" sz="1808" dirty="0"/>
          </a:p>
        </p:txBody>
      </p:sp>
      <p:sp>
        <p:nvSpPr>
          <p:cNvPr id="13" name="Text 10"/>
          <p:cNvSpPr/>
          <p:nvPr/>
        </p:nvSpPr>
        <p:spPr>
          <a:xfrm>
            <a:off x="3240863" y="4013002"/>
            <a:ext cx="94534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571500" y="4455914"/>
            <a:ext cx="36147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Stack: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Python, Flask, scikit-learn, MySQL, Pandas, Matplotlib</a:t>
            </a:r>
            <a:endParaRPr lang="en-US" sz="834" dirty="0"/>
          </a:p>
        </p:txBody>
      </p:sp>
      <p:sp>
        <p:nvSpPr>
          <p:cNvPr id="15" name="Shape 12"/>
          <p:cNvSpPr/>
          <p:nvPr/>
        </p:nvSpPr>
        <p:spPr>
          <a:xfrm>
            <a:off x="4543425" y="1100138"/>
            <a:ext cx="4029075" cy="3671888"/>
          </a:xfrm>
          <a:prstGeom prst="rect">
            <a:avLst/>
          </a:prstGeom>
          <a:solidFill>
            <a:srgbClr val="E5E7EB"/>
          </a:solidFill>
          <a:ln w="18288">
            <a:solidFill>
              <a:srgbClr val="9CA3AF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4543425" y="1100138"/>
            <a:ext cx="4029075" cy="3671888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 Placeholder: BeatCare Dashboard &amp; Risk Prediction Visuals]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Morafek CareMate &amp; EHR: FHIR-Native Care Coordination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71525" y="1550194"/>
            <a:ext cx="34147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FHIR-Native Interoperability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771525" y="1814513"/>
            <a:ext cx="34147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EHR solution with manual FHIR R4 implementation (Observation, Encounter, Condition) and ISiK Stage 1 compliance.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771525" y="2650331"/>
            <a:ext cx="34147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Multi-Platform Accessibility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71525" y="2914650"/>
            <a:ext cx="34147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access via Web, Mobile, and QR code without app installation requirements, integrating pharmacy and lab systems.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771525" y="3750469"/>
            <a:ext cx="34147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Care Ecosystem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771525" y="4014788"/>
            <a:ext cx="34147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E-Prescription delivery with error prevention and role-based security for doctors, patients, and pharmacists.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71500" y="4557713"/>
            <a:ext cx="3614738" cy="39647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Model: B2B Partner Model (20% Discount) | Charity Care: Free for those in need</a:t>
            </a:r>
            <a:endParaRPr lang="en-US" sz="885" dirty="0"/>
          </a:p>
        </p:txBody>
      </p:sp>
      <p:sp>
        <p:nvSpPr>
          <p:cNvPr id="11" name="Shape 8"/>
          <p:cNvSpPr/>
          <p:nvPr/>
        </p:nvSpPr>
        <p:spPr>
          <a:xfrm>
            <a:off x="4543425" y="1378744"/>
            <a:ext cx="4029075" cy="3671888"/>
          </a:xfrm>
          <a:prstGeom prst="rect">
            <a:avLst/>
          </a:prstGeom>
          <a:solidFill>
            <a:srgbClr val="E5E7EB"/>
          </a:solidFill>
          <a:ln w="18288">
            <a:solidFill>
              <a:srgbClr val="9CA3AF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4543425" y="1378744"/>
            <a:ext cx="4029075" cy="3671888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 Placeholder: Morafek EHR Interface &amp; Multi-Platform Access Visuals]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Morafek Clinical Excellence: Security &amp; AI Assist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71525" y="1271588"/>
            <a:ext cx="39147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Logic &amp; Monitoring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771525" y="1535906"/>
            <a:ext cx="39147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severity thresholds for vitals and real-time BP classification (Normal to Crisis) to ensure immediate clinical response.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771525" y="2414588"/>
            <a:ext cx="39147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Support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71525" y="2678906"/>
            <a:ext cx="39147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Gemini AI assist for ICD-10-GM visits across 14,000+ codes, streamlining clinical documentation and coding accuracy.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571500" y="3386138"/>
            <a:ext cx="4114800" cy="1685925"/>
          </a:xfrm>
          <a:prstGeom prst="rect">
            <a:avLst/>
          </a:prstGeom>
          <a:solidFill>
            <a:srgbClr val="E5E7EB"/>
          </a:solidFill>
          <a:ln w="18288">
            <a:solidFill>
              <a:srgbClr val="9CA3AF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571500" y="3386138"/>
            <a:ext cx="4114800" cy="1685925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 Placeholder: E-Prescription Workflow &amp; Doctor Dashboard]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072063" y="1271588"/>
            <a:ext cx="39147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Security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5072063" y="1535906"/>
            <a:ext cx="39147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 access for doctors, patients, and pharmacists with job-specific permissions, JWT authentication, and secure keystore storage.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5072063" y="2414588"/>
            <a:ext cx="39147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Integration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5072063" y="2678906"/>
            <a:ext cx="39147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E-Prescription delivery with medication error prevention and integrated lab results management for a unified care experience.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4872038" y="3386138"/>
            <a:ext cx="4114800" cy="1685925"/>
          </a:xfrm>
          <a:prstGeom prst="rect">
            <a:avLst/>
          </a:prstGeom>
          <a:solidFill>
            <a:srgbClr val="E5E7EB"/>
          </a:solidFill>
          <a:ln w="18288">
            <a:solidFill>
              <a:srgbClr val="9CA3AF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4872038" y="3386138"/>
            <a:ext cx="4114800" cy="1685925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 Placeholder: Security Architecture &amp; Role-Based Access Visuals]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DailyDeals: Smart Shopping Companion for Egypt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71525" y="1271588"/>
            <a:ext cx="34147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Market-Specific Localization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771525" y="1535906"/>
            <a:ext cx="34147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 (Arabic/English) mobile app with full RTL support and culturally appropriate formatting for the Egyptian market.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771525" y="2464594"/>
            <a:ext cx="34147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Three-Tier Caching Strategy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71525" y="2728913"/>
            <a:ext cx="34147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Firestore remote, local AsyncStorage, and in-memory state ensuring instant catalogue loads and offline resilience.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771525" y="3657600"/>
            <a:ext cx="34147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Production Deployment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771525" y="3921919"/>
            <a:ext cx="34147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launched on Google Play Store, serving 5 governorates with dynamic location-based store filtering.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4543425" y="1100138"/>
            <a:ext cx="4029075" cy="3671888"/>
          </a:xfrm>
          <a:prstGeom prst="rect">
            <a:avLst/>
          </a:prstGeom>
          <a:solidFill>
            <a:srgbClr val="E5E7EB"/>
          </a:solidFill>
          <a:ln w="18288">
            <a:solidFill>
              <a:srgbClr val="9CA3AF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4543425" y="1100138"/>
            <a:ext cx="4029075" cy="3671888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 Placeholder: DailyDeals App Interface &amp; Egyptian Retail Catalogues]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DeutschMind: Zero-Dependency Language Learning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71525" y="1271588"/>
            <a:ext cx="34147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Zero-Dependency Architecture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771525" y="1535906"/>
            <a:ext cx="34147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npm, no bundlers, no CDN imports. A fully static, browser-based platform built with vanilla JS, CSS3, and HTML5 for maximum portability.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771525" y="2464594"/>
            <a:ext cx="34147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JS Engines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71525" y="2728913"/>
            <a:ext cx="34147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engines for vocabulary and grammar. Integrated TTS via Web Speech API with sequential audio playback and keyboard shortcuts.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771525" y="3657600"/>
            <a:ext cx="34147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Methodology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771525" y="3921919"/>
            <a:ext cx="34147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DerDieDas color-coding (Blue/Red/Green) to reinforce grammatical gender acquisition across 3,000+ vocabulary entries.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4543425" y="1100138"/>
            <a:ext cx="4029075" cy="3671888"/>
          </a:xfrm>
          <a:prstGeom prst="rect">
            <a:avLst/>
          </a:prstGeom>
          <a:solidFill>
            <a:srgbClr val="E5E7EB"/>
          </a:solidFill>
          <a:ln w="18288">
            <a:solidFill>
              <a:srgbClr val="9CA3AF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4543425" y="1100138"/>
            <a:ext cx="4029075" cy="3671888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 Placeholder: DeutschMind Web Interface &amp; FSP Module for Healthcare]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292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Future Outlook: Advancing Digital Health through AI &amp; Research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71525" y="1728788"/>
            <a:ext cx="34147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Collaboration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771525" y="1993106"/>
            <a:ext cx="34147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to opportunities in Medical AI, FHIR Interoperability, and Precision Medicine to drive evidence-based clinical innovations.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771525" y="2921794"/>
            <a:ext cx="34147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Expansion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71525" y="3186113"/>
            <a:ext cx="34147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Developing ML-driven patient-specific circadian rhythm generation and activity dynamics for more accurate physiological modeling.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771525" y="4114800"/>
            <a:ext cx="34147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Healthcare Impact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771525" y="4379119"/>
            <a:ext cx="34147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Aiming to bridge the gap between medicine and technology to improve patient outcomes and streamline workflows worldwide.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4543425" y="1557338"/>
            <a:ext cx="4029075" cy="3671888"/>
          </a:xfrm>
          <a:prstGeom prst="rect">
            <a:avLst/>
          </a:prstGeom>
          <a:solidFill>
            <a:srgbClr val="E5E7EB"/>
          </a:solidFill>
          <a:ln w="18288">
            <a:solidFill>
              <a:srgbClr val="9CA3AF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4543425" y="1557338"/>
            <a:ext cx="4029075" cy="3671888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 Placeholder: Data Science / Research Visualization]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7179" y="675977"/>
            <a:ext cx="5709642" cy="532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Let's Build the Future Together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2212777" y="1279624"/>
            <a:ext cx="471844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 Mohamed Attia | Digital Health &amp; AI Specialist</a:t>
            </a:r>
            <a:endParaRPr lang="en-US" sz="1397" dirty="0"/>
          </a:p>
        </p:txBody>
      </p:sp>
      <p:sp>
        <p:nvSpPr>
          <p:cNvPr id="5" name="Shape 2"/>
          <p:cNvSpPr/>
          <p:nvPr/>
        </p:nvSpPr>
        <p:spPr>
          <a:xfrm>
            <a:off x="2353866" y="1808262"/>
            <a:ext cx="2028825" cy="2028825"/>
          </a:xfrm>
          <a:prstGeom prst="rect">
            <a:avLst/>
          </a:prstGeom>
          <a:solidFill>
            <a:srgbClr val="E5E7EB"/>
          </a:solidFill>
          <a:ln w="18288">
            <a:solidFill>
              <a:srgbClr val="9CA3AF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2353866" y="1808262"/>
            <a:ext cx="2028825" cy="2028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[Professional Profile Photo / QR Code]</a:t>
            </a:r>
            <a:endParaRPr lang="en-US" sz="942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028" y="2151162"/>
            <a:ext cx="214313" cy="1571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18497" y="2135088"/>
            <a:ext cx="124837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Ali.attia@gmx.de</a:t>
            </a:r>
            <a:endParaRPr lang="en-US" sz="1159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028" y="2447627"/>
            <a:ext cx="214313" cy="1571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118497" y="2431554"/>
            <a:ext cx="134659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+49 15737987359</a:t>
            </a:r>
            <a:endParaRPr lang="en-US" sz="1159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7028" y="2744093"/>
            <a:ext cx="214313" cy="15716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118497" y="2728020"/>
            <a:ext cx="156626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github.com/aliattia02</a:t>
            </a:r>
            <a:endParaRPr lang="en-US" sz="1159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7028" y="3040559"/>
            <a:ext cx="214313" cy="15716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118497" y="3024485"/>
            <a:ext cx="16573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linkedin.com/in/aliattia</a:t>
            </a:r>
            <a:endParaRPr lang="en-US" sz="1159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7028" y="3337024"/>
            <a:ext cx="214313" cy="15716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118497" y="3320951"/>
            <a:ext cx="136445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aliattia02.github.io</a:t>
            </a:r>
            <a:endParaRPr lang="en-US" sz="1159" dirty="0"/>
          </a:p>
        </p:txBody>
      </p:sp>
      <p:sp>
        <p:nvSpPr>
          <p:cNvPr id="17" name="Text 9"/>
          <p:cNvSpPr/>
          <p:nvPr/>
        </p:nvSpPr>
        <p:spPr>
          <a:xfrm>
            <a:off x="1000125" y="4108549"/>
            <a:ext cx="7143750" cy="344686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Available for innovative projects in </a:t>
            </a:r>
            <a:r>
              <a:rPr lang="en-US" sz="987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Medical AI</a:t>
            </a: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987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FHIR Interoperability</a:t>
            </a: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r>
              <a:rPr lang="en-US" sz="987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Medicine</a:t>
            </a: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2026-04-14T00:24:46Z</dcterms:created>
  <dcterms:modified xsi:type="dcterms:W3CDTF">2026-04-14T00:24:46Z</dcterms:modified>
</cp:coreProperties>
</file>